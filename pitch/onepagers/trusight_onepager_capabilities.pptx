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10058400"/>
          </a:xfrm>
          <a:prstGeom prst="rect">
            <a:avLst/>
          </a:prstGeom>
          <a:solidFill>
            <a:srgbClr val="E87722"/>
          </a:solidFill>
          <a:ln/>
        </p:spPr>
      </p:sp>
      <p:pic>
        <p:nvPicPr>
          <p:cNvPr id="3" name="Image 0" descr="C:\Users\Yorri\dnd-trends\.claude\worktrees\wonderful-golick-bff5c6\pitch\assets\logos\trusight_logo_4k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65760"/>
            <a:ext cx="2843784" cy="457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1188720"/>
            <a:ext cx="731520" cy="36576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1325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else Trusight does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457200" y="187452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Palantir is to defense, Trusight is to fantasy IP — the decision layer behind Designers, Marketers, and Licensing.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514600"/>
            <a:ext cx="2240280" cy="5166360"/>
          </a:xfrm>
          <a:prstGeom prst="rect">
            <a:avLst/>
          </a:prstGeom>
          <a:solidFill>
            <a:srgbClr val="1A1A2E"/>
          </a:solidFill>
          <a:ln w="19050">
            <a:solidFill>
              <a:srgbClr val="7AA3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2679192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7AA3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DESIGNERS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94360" y="297180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we build next?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94360" y="326440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 5 unmet player fantasies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94360" y="370332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7AA3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UA Sentiment Auditor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94360" y="3977640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Reddit + forum classification of Unearthed Arcana playtest reaction. AI Bouncer tags 'math broken' / 'flavor bad' / 'fun to play'. 48-hour signal vs 4-week survey lag.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594360" y="498348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7AA3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Homebrew Gap Identifier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94360" y="5257800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community is patching what you're not shipping. UA + GMBinder + DDB Homebrew velocity by mechanical category — quantitative proof of a rules-gap to fill.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594360" y="626364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7AA3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Mechanic Demand Detection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594360" y="6537960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Cross-stream rising signal for class types, settings, mechanics. Surface 'witch class', 'cozy fantasy', 'tactical horror' demand 12-18 months before mainstream peak.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788920" y="2514600"/>
            <a:ext cx="2240280" cy="5166360"/>
          </a:xfrm>
          <a:prstGeom prst="rect">
            <a:avLst/>
          </a:prstGeom>
          <a:solidFill>
            <a:srgbClr val="1A1A2E"/>
          </a:solidFill>
          <a:ln w="19050">
            <a:solidFill>
              <a:srgbClr val="D9A6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926080" y="2679192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9A6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MARKETERS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2926080" y="297180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sells, and how do we say it?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2926080" y="326440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Backlash early warning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926080" y="370332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D9A6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OGL-Tier Backlash Detector  ★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2926080" y="3977640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Daily-cadence community sentiment. If WotC pre-hints a move (Asmodee printing partnership, OGL revision, AI policy change), Trusight surfaces the reaction within 24 hours — before commitment. Not a minute-level crisis monitor; a trial-balloon detector.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2926080" y="498348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D9A6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Creator ROI Attribution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2926080" y="5257800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that Critical Role / Dimension 20 sponsorship actually move product? Track Google Trends + Fandom + DDB lookup velocity around the specific monsters / modules used in the episode.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2926080" y="626364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D9A6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Audience Segmentation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2926080" y="6537960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AO3-heavy vs Reddit-heavy vs BGG-heavy IPs map to narrative-fan / mechanics-fan / buyer segments. Tailor channel mix by where each IP's fans actually live.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120640" y="2514600"/>
            <a:ext cx="2240280" cy="5166360"/>
          </a:xfrm>
          <a:prstGeom prst="rect">
            <a:avLst/>
          </a:prstGeom>
          <a:solidFill>
            <a:srgbClr val="1A1A2E"/>
          </a:solidFill>
          <a:ln w="19050">
            <a:solidFill>
              <a:srgbClr val="5FDC7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257800" y="2679192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5FDC7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IP &amp; LICENSING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5257800" y="297180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we acquire?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5257800" y="326440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12-18 month forecasting radar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257800" y="370332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FDC7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UB Matrix (the IP Decision Engine)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5257800" y="3977640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 candidate IPs scored on Fit / Reception / Acquisition / Commercial. See companion one-pager — Hollow Knight rises, Spy × Family falls. Cross-source triangulation rules out single-source noise.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5257800" y="498348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FDC7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Buyers-Remorse Landmine Detector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5257800" y="5257800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BGG board-game adaptation reception + AO3 zero-crossover signal flag IPs that look great on paper but the tabletop community will reject. Saves 7-figure licensing fees on Walking-Dead-tier risks.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5257800" y="626364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FDC7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Reverse-Funnel Acquirer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5257800" y="6537960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non-D&amp;D IP subreddits for 'D&amp;D' / '5e' / 'campaign' mentions. Surfaces communities pre-converted to D&amp;D — near-zero CAC targets like Hollow Knight or Dungeon Crawler Carl.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457200" y="7818120"/>
            <a:ext cx="6858000" cy="1005840"/>
          </a:xfrm>
          <a:prstGeom prst="rect">
            <a:avLst/>
          </a:prstGeom>
          <a:solidFill>
            <a:srgbClr val="1A1A2E"/>
          </a:solidFill>
          <a:ln w="12700">
            <a:solidFill>
              <a:srgbClr val="E87722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94360" y="7909560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87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MAPS TO HASBRO'S PLAYING-TO-WIN STRATEGY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594360" y="8202168"/>
            <a:ext cx="1627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Profitable Franchises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594360" y="84124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high-resolution D&amp;D-segment health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2267712" y="8202168"/>
            <a:ext cx="1627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Aging Up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2267712" y="84124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kidult-tier engagement signal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3941064" y="8202168"/>
            <a:ext cx="1627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Digital &amp; Direct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3941064" y="84124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DDB / VTT signal layer + APIs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5614416" y="8202168"/>
            <a:ext cx="1627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 Scaled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5614416" y="84124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 Matrix de-risks every license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457200" y="9006840"/>
            <a:ext cx="6858000" cy="36576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48" name="Text 45"/>
          <p:cNvSpPr/>
          <p:nvPr/>
        </p:nvSpPr>
        <p:spPr>
          <a:xfrm>
            <a:off x="457200" y="9144000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E87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12+ LIVE SIGNAL STREAMS</a:t>
            </a:r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  ·  </a:t>
            </a:r>
            <a:pPr algn="ctr" indent="0" marL="0">
              <a:buNone/>
            </a:pPr>
            <a:r>
              <a:rPr lang="en-US" sz="1000" b="1" spc="200" kern="0" dirty="0">
                <a:solidFill>
                  <a:srgbClr val="E87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8-STAGE BIGQUERY PIPELINE</a:t>
            </a:r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  ·  </a:t>
            </a:r>
            <a:pPr algn="ctr" indent="0" marL="0">
              <a:buNone/>
            </a:pPr>
            <a:r>
              <a:rPr lang="en-US" sz="1000" b="1" spc="200" kern="0" dirty="0">
                <a:solidFill>
                  <a:srgbClr val="E87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BOUNCER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457200" y="941832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Lands as Snowflake Secure Share into your Looker dashboards. No new BI tool.</a:t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457200" y="971092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 Trubbel  ·  </a:t>
            </a:r>
            <a:pPr algn="ctr" indent="0" marL="0">
              <a:buNone/>
            </a:pPr>
            <a:r>
              <a:rPr lang="en-US" sz="110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phil@trusight.ai</a:t>
            </a:r>
            <a:pPr algn="ctr" indent="0" marL="0">
              <a:buNone/>
            </a:pPr>
            <a:r>
              <a:rPr lang="en-US" sz="110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trusight.ai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Trusight — Capability Sweep</dc:title>
  <dc:subject>PptxGenJS Presentation</dc:subject>
  <dc:creator>Phil Trubbel (Trusight)</dc:creator>
  <cp:lastModifiedBy>Phil Trubbel (Trusight)</cp:lastModifiedBy>
  <cp:revision>1</cp:revision>
  <dcterms:created xsi:type="dcterms:W3CDTF">2026-05-12T19:20:31Z</dcterms:created>
  <dcterms:modified xsi:type="dcterms:W3CDTF">2026-05-12T19:20:31Z</dcterms:modified>
</cp:coreProperties>
</file>