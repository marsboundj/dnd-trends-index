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100584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3" name="Image 0" descr="C:\Users\Yorri\dnd-trends\.claude\worktrees\wonderful-golick-bff5c6\pitch\assets\logos\trusight_logo_4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276856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841248"/>
            <a:ext cx="548640" cy="2743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9601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IP Decision Engine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candidate IPs · 8-source signal stack · Sleepers rise; obvious picks fall.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188720" y="1783080"/>
            <a:ext cx="5394960" cy="2697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86200" y="1783080"/>
            <a:ext cx="2697480" cy="1348740"/>
          </a:xfrm>
          <a:prstGeom prst="rect">
            <a:avLst/>
          </a:prstGeom>
          <a:solidFill>
            <a:srgbClr val="5FDC7C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188720" y="1783080"/>
            <a:ext cx="2697480" cy="1348740"/>
          </a:xfrm>
          <a:prstGeom prst="rect">
            <a:avLst/>
          </a:prstGeom>
          <a:solidFill>
            <a:srgbClr val="D9A64A">
              <a:alpha val="1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886200" y="3131820"/>
            <a:ext cx="2697480" cy="1348740"/>
          </a:xfrm>
          <a:prstGeom prst="rect">
            <a:avLst/>
          </a:prstGeom>
          <a:solidFill>
            <a:srgbClr val="7AA3FF">
              <a:alpha val="1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88720" y="3131820"/>
            <a:ext cx="2697480" cy="1348740"/>
          </a:xfrm>
          <a:prstGeom prst="rect">
            <a:avLst/>
          </a:prstGeom>
          <a:solidFill>
            <a:srgbClr val="FF8888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3131820"/>
            <a:ext cx="539496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886200" y="1783080"/>
            <a:ext cx="0" cy="2697480"/>
          </a:xfrm>
          <a:prstGeom prst="line">
            <a:avLst/>
          </a:prstGeom>
          <a:noFill/>
          <a:ln w="12700">
            <a:solidFill>
              <a:srgbClr val="3A3A5A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280160" y="18379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FORCE-FIT RISK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977640" y="18379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GREENLIGHT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280160" y="4242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LANDMINE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77640" y="4242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SLEEPER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88720" y="4535424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FIT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 rot="16200000">
            <a:off x="320040" y="27660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RECEPTION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38421" y="2122780"/>
            <a:ext cx="237744" cy="237744"/>
          </a:xfrm>
          <a:prstGeom prst="ellipse">
            <a:avLst/>
          </a:prstGeom>
          <a:solidFill>
            <a:srgbClr val="5FDC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8421" y="21227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9766" y="2365553"/>
            <a:ext cx="237744" cy="237744"/>
          </a:xfrm>
          <a:prstGeom prst="ellipse">
            <a:avLst/>
          </a:prstGeom>
          <a:solidFill>
            <a:srgbClr val="5FDC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39766" y="236555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2959" y="2257654"/>
            <a:ext cx="237744" cy="237744"/>
          </a:xfrm>
          <a:prstGeom prst="ellipse">
            <a:avLst/>
          </a:prstGeom>
          <a:solidFill>
            <a:srgbClr val="5FDC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2959" y="225765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47665" y="2635301"/>
            <a:ext cx="237744" cy="237744"/>
          </a:xfrm>
          <a:prstGeom prst="ellipse">
            <a:avLst/>
          </a:prstGeom>
          <a:solidFill>
            <a:srgbClr val="5FDC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47665" y="263530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79262" y="2500427"/>
            <a:ext cx="237744" cy="237744"/>
          </a:xfrm>
          <a:prstGeom prst="ellipse">
            <a:avLst/>
          </a:prstGeom>
          <a:solidFill>
            <a:srgbClr val="5FDC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79262" y="250042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277917" y="1853032"/>
            <a:ext cx="237744" cy="237744"/>
          </a:xfrm>
          <a:prstGeom prst="ellipse">
            <a:avLst/>
          </a:prstGeom>
          <a:solidFill>
            <a:srgbClr val="5FDC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77917" y="1853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47665" y="3282696"/>
            <a:ext cx="237744" cy="237744"/>
          </a:xfrm>
          <a:prstGeom prst="ellipse">
            <a:avLst/>
          </a:prstGeom>
          <a:solidFill>
            <a:srgbClr val="7AA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47665" y="3282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33211" y="3120847"/>
            <a:ext cx="237744" cy="237744"/>
          </a:xfrm>
          <a:prstGeom prst="ellipse">
            <a:avLst/>
          </a:prstGeom>
          <a:solidFill>
            <a:srgbClr val="7AA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33211" y="312084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62118" y="3444545"/>
            <a:ext cx="237744" cy="237744"/>
          </a:xfrm>
          <a:prstGeom prst="ellipse">
            <a:avLst/>
          </a:prstGeom>
          <a:solidFill>
            <a:srgbClr val="7AA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62118" y="344454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302959" y="3552444"/>
            <a:ext cx="237744" cy="237744"/>
          </a:xfrm>
          <a:prstGeom prst="ellipse">
            <a:avLst/>
          </a:prstGeom>
          <a:solidFill>
            <a:srgbClr val="7AA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02959" y="35524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27832" y="2689250"/>
            <a:ext cx="237744" cy="237744"/>
          </a:xfrm>
          <a:prstGeom prst="ellipse">
            <a:avLst/>
          </a:prstGeom>
          <a:solidFill>
            <a:srgbClr val="D9A6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27832" y="26892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688336" y="3768242"/>
            <a:ext cx="237744" cy="237744"/>
          </a:xfrm>
          <a:prstGeom prst="ellipse">
            <a:avLst/>
          </a:prstGeom>
          <a:solidFill>
            <a:srgbClr val="FF88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688336" y="3768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65760" y="4617720"/>
            <a:ext cx="54864" cy="329184"/>
          </a:xfrm>
          <a:prstGeom prst="rect">
            <a:avLst/>
          </a:prstGeom>
          <a:solidFill>
            <a:srgbClr val="5FDC7C"/>
          </a:solidFill>
          <a:ln/>
        </p:spPr>
      </p:sp>
      <p:sp>
        <p:nvSpPr>
          <p:cNvPr id="45" name="Text 42"/>
          <p:cNvSpPr/>
          <p:nvPr/>
        </p:nvSpPr>
        <p:spPr>
          <a:xfrm>
            <a:off x="493776" y="46177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GREENLIGHT (top-right)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 + high reception · ship now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903720" y="46177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IPs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65760" y="5001768"/>
            <a:ext cx="237744" cy="237744"/>
          </a:xfrm>
          <a:prstGeom prst="ellipse">
            <a:avLst/>
          </a:prstGeom>
          <a:solidFill>
            <a:srgbClr val="5FDC7C"/>
          </a:solidFill>
          <a:ln/>
        </p:spPr>
      </p:sp>
      <p:sp>
        <p:nvSpPr>
          <p:cNvPr id="48" name="Text 45"/>
          <p:cNvSpPr/>
          <p:nvPr/>
        </p:nvSpPr>
        <p:spPr>
          <a:xfrm>
            <a:off x="365760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58368" y="498348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Hollow Knight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sleeper most licensing teams overlook. Both communities pre-converting; indie pricing protects margin.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 1.0 · Acq 0.85 · 2 of 2 sources positive · auto-flagged gold_mine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04488" y="5001768"/>
            <a:ext cx="237744" cy="237744"/>
          </a:xfrm>
          <a:prstGeom prst="ellipse">
            <a:avLst/>
          </a:prstGeom>
          <a:solidFill>
            <a:srgbClr val="5FDC7C"/>
          </a:solidFill>
          <a:ln/>
        </p:spPr>
      </p:sp>
      <p:sp>
        <p:nvSpPr>
          <p:cNvPr id="51" name="Text 48"/>
          <p:cNvSpPr/>
          <p:nvPr/>
        </p:nvSpPr>
        <p:spPr>
          <a:xfrm>
            <a:off x="3904488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197096" y="498348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Bloodborne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FromSoft pattern proven. Dark fantasy + tactical combat = Aging-Up demo.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0.80 (HIGH) · BGG 0.81 · Homebrew 0.98 · 5 of 6 sources positive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65760" y="5605272"/>
            <a:ext cx="237744" cy="237744"/>
          </a:xfrm>
          <a:prstGeom prst="ellipse">
            <a:avLst/>
          </a:prstGeom>
          <a:solidFill>
            <a:srgbClr val="5FDC7C"/>
          </a:solidFill>
          <a:ln/>
        </p:spPr>
      </p:sp>
      <p:sp>
        <p:nvSpPr>
          <p:cNvPr id="54" name="Text 51"/>
          <p:cNvSpPr/>
          <p:nvPr/>
        </p:nvSpPr>
        <p:spPr>
          <a:xfrm>
            <a:off x="365760" y="5605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58368" y="5586984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Dungeon Crawler Carl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matrix score. LitRPG audience pre-converted via reverse-funnel.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fit 0.97 · Acq 0.71 · 2 of 2 sources positive · auto-flagged gold_mine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04488" y="5605272"/>
            <a:ext cx="237744" cy="237744"/>
          </a:xfrm>
          <a:prstGeom prst="ellipse">
            <a:avLst/>
          </a:prstGeom>
          <a:solidFill>
            <a:srgbClr val="5FDC7C"/>
          </a:solidFill>
          <a:ln/>
        </p:spPr>
      </p:sp>
      <p:sp>
        <p:nvSpPr>
          <p:cNvPr id="57" name="Text 54"/>
          <p:cNvSpPr/>
          <p:nvPr/>
        </p:nvSpPr>
        <p:spPr>
          <a:xfrm>
            <a:off x="3904488" y="5605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197096" y="5586984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Stranger Things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for RETENTION, not acquisition. The asymmetry no other tool surfaces.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 0.85 vs Acq 0.54 · 4 of 5 sources positive · 3 forum backlash narratives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365760" y="6208776"/>
            <a:ext cx="237744" cy="237744"/>
          </a:xfrm>
          <a:prstGeom prst="ellipse">
            <a:avLst/>
          </a:prstGeom>
          <a:solidFill>
            <a:srgbClr val="5FDC7C"/>
          </a:solidFill>
          <a:ln/>
        </p:spPr>
      </p:sp>
      <p:sp>
        <p:nvSpPr>
          <p:cNvPr id="60" name="Text 57"/>
          <p:cNvSpPr/>
          <p:nvPr/>
        </p:nvSpPr>
        <p:spPr>
          <a:xfrm>
            <a:off x="365760" y="6208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58368" y="619048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Avatar: The Last Airbender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fit in the deck (0.92). WoTC's MTG license precedent supports D&amp;D extension.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fit 0.92 · BGG 0.78 · 3 of 4 sources positive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904488" y="6208776"/>
            <a:ext cx="237744" cy="237744"/>
          </a:xfrm>
          <a:prstGeom prst="ellipse">
            <a:avLst/>
          </a:prstGeom>
          <a:solidFill>
            <a:srgbClr val="5FDC7C"/>
          </a:solidFill>
          <a:ln/>
        </p:spPr>
      </p:sp>
      <p:sp>
        <p:nvSpPr>
          <p:cNvPr id="63" name="Text 60"/>
          <p:cNvSpPr/>
          <p:nvPr/>
        </p:nvSpPr>
        <p:spPr>
          <a:xfrm>
            <a:off x="3904488" y="6208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197096" y="6190488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Berserk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Iconic dark fantasy with deep DDB homebrew. Premium hardcover commands premium pricing.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fit 0.94 · Homebrew 0.94 · 5 of 5 sources positive · 9 confirmed Berserker subclasses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365760" y="6839712"/>
            <a:ext cx="54864" cy="329184"/>
          </a:xfrm>
          <a:prstGeom prst="rect">
            <a:avLst/>
          </a:prstGeom>
          <a:solidFill>
            <a:srgbClr val="7AA3FF"/>
          </a:solidFill>
          <a:ln/>
        </p:spPr>
      </p:sp>
      <p:sp>
        <p:nvSpPr>
          <p:cNvPr id="66" name="Text 63"/>
          <p:cNvSpPr/>
          <p:nvPr/>
        </p:nvSpPr>
        <p:spPr>
          <a:xfrm>
            <a:off x="493776" y="68397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SLEEPER (bottom-right)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 + low/untested reception · investigate; pre-mainstream opportunity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6903720" y="6839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IPs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365760" y="7223760"/>
            <a:ext cx="237744" cy="237744"/>
          </a:xfrm>
          <a:prstGeom prst="ellipse">
            <a:avLst/>
          </a:prstGeom>
          <a:solidFill>
            <a:srgbClr val="7AA3FF"/>
          </a:solidFill>
          <a:ln/>
        </p:spPr>
      </p:sp>
      <p:sp>
        <p:nvSpPr>
          <p:cNvPr id="69" name="Text 66"/>
          <p:cNvSpPr/>
          <p:nvPr/>
        </p:nvSpPr>
        <p:spPr>
          <a:xfrm>
            <a:off x="365760" y="7223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58368" y="720547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Frieren: Beyond Journey's End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structured like a D&amp;D party (Mage / Warrior / Priest). Captures Gen-Z anime; doesn't break 5e.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fit 0.86 · Forum 0.69 (HIGH, 3 constructive) · 1 of 1 positive (thin evidence)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3904488" y="7223760"/>
            <a:ext cx="237744" cy="237744"/>
          </a:xfrm>
          <a:prstGeom prst="ellipse">
            <a:avLst/>
          </a:prstGeom>
          <a:solidFill>
            <a:srgbClr val="7AA3FF"/>
          </a:solidFill>
          <a:ln/>
        </p:spPr>
      </p:sp>
      <p:sp>
        <p:nvSpPr>
          <p:cNvPr id="72" name="Text 69"/>
          <p:cNvSpPr/>
          <p:nvPr/>
        </p:nvSpPr>
        <p:spPr>
          <a:xfrm>
            <a:off x="3904488" y="7223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4197096" y="720547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 Slayer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rates mechanics translatable; cross-source signal thin. AO3 zero is the yellow flag.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0.86 · Recep 0.48 · 2 of 3 sources positive · AO3 0 crossover works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365760" y="7827264"/>
            <a:ext cx="237744" cy="237744"/>
          </a:xfrm>
          <a:prstGeom prst="ellipse">
            <a:avLst/>
          </a:prstGeom>
          <a:solidFill>
            <a:srgbClr val="7AA3FF"/>
          </a:solidFill>
          <a:ln/>
        </p:spPr>
      </p:sp>
      <p:sp>
        <p:nvSpPr>
          <p:cNvPr id="75" name="Text 72"/>
          <p:cNvSpPr/>
          <p:nvPr/>
        </p:nvSpPr>
        <p:spPr>
          <a:xfrm>
            <a:off x="365760" y="7827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658368" y="7808976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Made in Abyss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about descending layer-by-layer into a dungeon. VTT-perfect mechanical translation.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0.78 · Homebrew 0.67 · 1 of 1 positive (thin evidence)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3904488" y="7827264"/>
            <a:ext cx="237744" cy="237744"/>
          </a:xfrm>
          <a:prstGeom prst="ellipse">
            <a:avLst/>
          </a:prstGeom>
          <a:solidFill>
            <a:srgbClr val="7AA3FF"/>
          </a:solidFill>
          <a:ln/>
        </p:spPr>
      </p:sp>
      <p:sp>
        <p:nvSpPr>
          <p:cNvPr id="78" name="Text 75"/>
          <p:cNvSpPr/>
          <p:nvPr/>
        </p:nvSpPr>
        <p:spPr>
          <a:xfrm>
            <a:off x="3904488" y="7827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4197096" y="7808976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Dwarf Fortress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Emergent-storytelling DNA. The most D&amp;D game that isn't a TTRPG.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0.91 · Forum 0.50 (HIGH, 10 confirmed via GitP scrape) · 1 of 1 positive (thin)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365760" y="8458200"/>
            <a:ext cx="54864" cy="329184"/>
          </a:xfrm>
          <a:prstGeom prst="rect">
            <a:avLst/>
          </a:prstGeom>
          <a:solidFill>
            <a:srgbClr val="D9A64A"/>
          </a:solidFill>
          <a:ln/>
        </p:spPr>
      </p:sp>
      <p:sp>
        <p:nvSpPr>
          <p:cNvPr id="81" name="Text 78"/>
          <p:cNvSpPr/>
          <p:nvPr/>
        </p:nvSpPr>
        <p:spPr>
          <a:xfrm>
            <a:off x="493776" y="845820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FORCE-FIT RISK (top-left)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fit + high reception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3364992" y="8458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IP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365760" y="8842248"/>
            <a:ext cx="237744" cy="237744"/>
          </a:xfrm>
          <a:prstGeom prst="ellipse">
            <a:avLst/>
          </a:prstGeom>
          <a:solidFill>
            <a:srgbClr val="D9A64A"/>
          </a:solidFill>
          <a:ln/>
        </p:spPr>
      </p:sp>
      <p:sp>
        <p:nvSpPr>
          <p:cNvPr id="84" name="Text 81"/>
          <p:cNvSpPr/>
          <p:nvPr/>
        </p:nvSpPr>
        <p:spPr>
          <a:xfrm>
            <a:off x="365760" y="8842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658368" y="882396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Discworld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Beloved fantasy, but Pratchett's whole project subverts the D&amp;D conventions WoTC would charge for adapting.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fit 0.40 (only IP &lt;0.50) · Forum 0.72 · 3 of 4 sources positive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3904488" y="8458200"/>
            <a:ext cx="54864" cy="329184"/>
          </a:xfrm>
          <a:prstGeom prst="rect">
            <a:avLst/>
          </a:prstGeom>
          <a:solidFill>
            <a:srgbClr val="FF8888"/>
          </a:solidFill>
          <a:ln/>
        </p:spPr>
      </p:sp>
      <p:sp>
        <p:nvSpPr>
          <p:cNvPr id="87" name="Text 84"/>
          <p:cNvSpPr/>
          <p:nvPr/>
        </p:nvSpPr>
        <p:spPr>
          <a:xfrm>
            <a:off x="4032504" y="845820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LANDMINE (bottom-left)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reception failure (recep &lt; 0.30) — overrides quadrant by axis</a:t>
            </a:r>
            <a:endParaRPr lang="en-US" sz="1100" dirty="0"/>
          </a:p>
        </p:txBody>
      </p:sp>
      <p:sp>
        <p:nvSpPr>
          <p:cNvPr id="88" name="Text 85"/>
          <p:cNvSpPr/>
          <p:nvPr/>
        </p:nvSpPr>
        <p:spPr>
          <a:xfrm>
            <a:off x="6903720" y="8458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IP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3904488" y="8842248"/>
            <a:ext cx="237744" cy="237744"/>
          </a:xfrm>
          <a:prstGeom prst="ellipse">
            <a:avLst/>
          </a:prstGeom>
          <a:solidFill>
            <a:srgbClr val="FF8888"/>
          </a:solidFill>
          <a:ln/>
        </p:spPr>
      </p:sp>
      <p:sp>
        <p:nvSpPr>
          <p:cNvPr id="90" name="Text 87"/>
          <p:cNvSpPr/>
          <p:nvPr/>
        </p:nvSpPr>
        <p:spPr>
          <a:xfrm>
            <a:off x="3904488" y="8842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4197096" y="882396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Spy × Family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 — </a:t>
            </a:r>
            <a:pPr indent="0" marL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global anime, triple-source negative on D&amp;D-context fit. The 'looks like a deal, will fail at the table' case.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0.66 · Recep 0.22 (severe) · 0 of 2 sources positive · BGG flop · AO3 zero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365760" y="9235440"/>
            <a:ext cx="704088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3" name="Text 90"/>
          <p:cNvSpPr/>
          <p:nvPr/>
        </p:nvSpPr>
        <p:spPr>
          <a:xfrm>
            <a:off x="365760" y="93085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8 SIGNAL SOURCES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5760" y="950976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baseline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MTG/D&amp;D precedent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BGG licensed-game proxy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AO3 crossover fic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(25 subs)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 × 4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 × 3</a:t>
            </a:r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75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DTRPG + DMs Guild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365760" y="97657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pPr algn="ctr"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IPs selected from a 142-IP candidate corpus, evaluated across 8 signal channels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Trusight — The IP Decision Engine</dc:title>
  <dc:subject>PptxGenJS Presentation</dc:subject>
  <dc:creator>Phil Trubbel (Trusight)</dc:creator>
  <cp:lastModifiedBy>Phil Trubbel (Trusight)</cp:lastModifiedBy>
  <cp:revision>1</cp:revision>
  <dcterms:created xsi:type="dcterms:W3CDTF">2026-05-13T18:10:21Z</dcterms:created>
  <dcterms:modified xsi:type="dcterms:W3CDTF">2026-05-13T18:10:21Z</dcterms:modified>
</cp:coreProperties>
</file>